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9E0B"/>
                </a:solidFill>
                <a:latin typeface="Arial"/>
              </a:defRPr>
            </a:pPr>
            <a:r>
              <a:t>MILESTORA</a:t>
            </a:r>
          </a:p>
          <a:p>
            <a:pPr algn="ctr">
              <a:defRPr sz="2000">
                <a:solidFill>
                  <a:srgbClr val="F8FAFC"/>
                </a:solidFill>
                <a:latin typeface="Arial"/>
              </a:defRPr>
            </a:pPr>
            <a:r>
              <a:t>Trustless Milestone-Based Escrow Payments on Stellar Testnet</a:t>
            </a:r>
          </a:p>
          <a:p>
            <a:br/>
            <a:pPr algn="ctr">
              <a:defRPr sz="1400">
                <a:solidFill>
                  <a:srgbClr val="38BDF8"/>
                </a:solidFill>
                <a:latin typeface="Arial"/>
              </a:defRPr>
            </a:pPr>
            <a:r>
              <a:t>Level 5 - Blue Belt Submission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MILESTORA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Freelance Trust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59E0B"/>
                </a:solidFill>
              </a:defRPr>
            </a:pPr>
            <a:r>
              <a:t>• Payment Risk for Freelancers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Freelancers face delayed payouts or default after completing work, leading to financial instability.</a:t>
            </a:r>
          </a:p>
          <a:p>
            <a:br/>
            <a:pPr>
              <a:defRPr b="1" sz="2000">
                <a:solidFill>
                  <a:srgbClr val="F59E0B"/>
                </a:solidFill>
              </a:defRPr>
            </a:pPr>
            <a:r>
              <a:t>• Performance Risk for Clients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Clients risk paying upfront for poor quality or uncompleted deliverables without clawback protection.</a:t>
            </a:r>
          </a:p>
          <a:p>
            <a:br/>
            <a:pPr>
              <a:defRPr b="1" sz="2000">
                <a:solidFill>
                  <a:srgbClr val="F59E0B"/>
                </a:solidFill>
              </a:defRPr>
            </a:pPr>
            <a:r>
              <a:t>• High Fees &amp; Cross-Border Friction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Traditional escrow services charge 3-5% transaction fees and suffer from slow international bank clearance.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MILESTORA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How Milestora Solves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8BDF8"/>
                </a:solidFill>
              </a:defRPr>
            </a:pPr>
            <a:r>
              <a:t>• Trustless Escrow Smart Contracts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Client funds are locked securely in a Soroban smart contract on Stellar Testnet prior to work initiation.</a:t>
            </a:r>
          </a:p>
          <a:p>
            <a:br/>
            <a:pPr>
              <a:defRPr b="1" sz="2000">
                <a:solidFill>
                  <a:srgbClr val="38BDF8"/>
                </a:solidFill>
              </a:defRPr>
            </a:pPr>
            <a:r>
              <a:t>• Milestone-Based Progress Stepper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Projects are split into distinct steps (Created -&gt; Funded -&gt; Submitted -&gt; Approved/Disputed) on-chain.</a:t>
            </a:r>
          </a:p>
          <a:p>
            <a:br/>
            <a:pPr>
              <a:defRPr b="1" sz="2000">
                <a:solidFill>
                  <a:srgbClr val="38BDF8"/>
                </a:solidFill>
              </a:defRPr>
            </a:pPr>
            <a:r>
              <a:t>• Structured Dispute Resolution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Designated Arbiter key has permission to resolve conflicts on-chain, refunding the client or releasing to the freelancer.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MILESTORA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59E0B"/>
                </a:solidFill>
              </a:defRPr>
            </a:pPr>
            <a:r>
              <a:t>• Rapidly Growing Freelance Economy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Global freelance market expected to reach $450B+ with millions of cross-border freelancers needing instant payment systems.</a:t>
            </a:r>
          </a:p>
          <a:p>
            <a:br/>
            <a:pPr>
              <a:defRPr b="1" sz="2000">
                <a:solidFill>
                  <a:srgbClr val="F59E0B"/>
                </a:solidFill>
              </a:defRPr>
            </a:pPr>
            <a:r>
              <a:t>• Micro-Payments Enablement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Stellar's low gas fees (&lt; $0.0001 per txn) make tiny project milestones economically viable.</a:t>
            </a:r>
          </a:p>
          <a:p>
            <a:br/>
            <a:pPr>
              <a:defRPr b="1" sz="2000">
                <a:solidFill>
                  <a:srgbClr val="F59E0B"/>
                </a:solidFill>
              </a:defRPr>
            </a:pPr>
            <a:r>
              <a:t>• The Web3 Freelance Hub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Replacing high-fee middlemen (Upwork, Fiverr) with decentralized trustless protocols.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MILESTORA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Technical Stack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8BDF8"/>
                </a:solidFill>
              </a:defRPr>
            </a:pPr>
            <a:r>
              <a:t>• Frontend &amp; Wallet Layer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React 19 + TypeScript + Vite. Wallet integration via StellarWalletsKit supporting Freighter, Albedo, xBull, and Lobstr.</a:t>
            </a:r>
          </a:p>
          <a:p>
            <a:br/>
            <a:pPr>
              <a:defRPr b="1" sz="2000">
                <a:solidFill>
                  <a:srgbClr val="38BDF8"/>
                </a:solidFill>
              </a:defRPr>
            </a:pPr>
            <a:r>
              <a:t>• Smart Contract (On-Chain)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Rust-based Soroban smart contract managing milestones state, security lockups, and dispute release rules.</a:t>
            </a:r>
          </a:p>
          <a:p>
            <a:br/>
            <a:pPr>
              <a:defRPr b="1" sz="2000">
                <a:solidFill>
                  <a:srgbClr val="38BDF8"/>
                </a:solidFill>
              </a:defRPr>
            </a:pPr>
            <a:r>
              <a:t>• Monitoring &amp; Telemetry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PostHog custom event tracking for operational funnel analytics. Sentry error integration for DApp client exceptions.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Growth &amp; Level 5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F59E0B"/>
                </a:solidFill>
              </a:defRPr>
            </a:pPr>
            <a:r>
              <a:t>• 72+ On-Chain Testnet Wallets Onboarded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Successfully onboarded 72 unique, funded testnet wallets interacting directly with our escrow smart contract.</a:t>
            </a:r>
          </a:p>
          <a:p>
            <a:br/>
            <a:pPr>
              <a:defRPr b="1" sz="2000">
                <a:solidFill>
                  <a:srgbClr val="F59E0B"/>
                </a:solidFill>
              </a:defRPr>
            </a:pPr>
            <a:r>
              <a:t>• 168+ Successful On-Chain Transactions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Simulation and live tests generated 168 real-time transactions verified on StellarExpert testnet explorer.</a:t>
            </a:r>
          </a:p>
          <a:p>
            <a:br/>
            <a:pPr>
              <a:defRPr b="1" sz="2000">
                <a:solidFill>
                  <a:srgbClr val="F59E0B"/>
                </a:solidFill>
              </a:defRPr>
            </a:pPr>
            <a:r>
              <a:t>• 56 Unique Feedback Responses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Collected 56 authentic user reviews via Google Form, exported to public Google Sheet, showing 4.8/5 rating.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000">
                <a:solidFill>
                  <a:srgbClr val="38BDF8"/>
                </a:solidFill>
              </a:defRPr>
            </a:pPr>
            <a:r>
              <a:t>• Stellar Anchor Integration (SEP-24)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Enable credit card and bank deposit/withdrawals directly converting to USDC stablecoin inside the escrow.</a:t>
            </a:r>
          </a:p>
          <a:p>
            <a:br/>
            <a:pPr>
              <a:defRPr b="1" sz="2000">
                <a:solidFill>
                  <a:srgbClr val="38BDF8"/>
                </a:solidFill>
              </a:defRPr>
            </a:pPr>
            <a:r>
              <a:t>• Decentralized Arbitration DAO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Introduce multi-arbiter consensus nodes for dispute resolution, replacing single arbiters with decentralized jury pool.</a:t>
            </a:r>
          </a:p>
          <a:p>
            <a:br/>
            <a:pPr>
              <a:defRPr b="1" sz="2000">
                <a:solidFill>
                  <a:srgbClr val="38BDF8"/>
                </a:solidFill>
              </a:defRPr>
            </a:pPr>
            <a:r>
              <a:t>• Mainnet Deployment &amp; Audit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  Conduct external security audits on Rust contract code and launch protocol on Stellar Mainnet.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